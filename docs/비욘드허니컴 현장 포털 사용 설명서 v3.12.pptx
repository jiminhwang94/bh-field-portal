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2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비욘드허니컴 현장 포털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DFE8FC"/>
                </a:solidFill>
                <a:latin typeface="맑은 고딕"/>
              </a:rPr>
              <a:t>사용 설명서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DB8EA"/>
                </a:solidFill>
                <a:latin typeface="맑은 고딕"/>
              </a:rPr>
              <a:t>현장 엔지니어용 · 태블릿 앱 v3.12 · 2026년 9월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FE8FC"/>
                </a:solidFill>
                <a:latin typeface="맑은 고딕"/>
              </a:rPr>
              <a:t>가이드 검색 · 차량 재고 · 현장 리포트 — 인터넷이 끊겨도 쓸 수 있고, 팀 공용 구글 시트에 자동 저장됩니다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이 설명서에서 다루는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2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47AB"/>
                </a:solidFill>
                <a:latin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9164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3"/>
                </a:solidFill>
                <a:latin typeface="맑은 고딕"/>
              </a:rPr>
              <a:t>시작하기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5740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70"/>
                </a:solidFill>
                <a:latin typeface="맑은 고딕"/>
              </a:rPr>
              <a:t>이 앱은 무엇인가 · 설치 · 첫 설정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974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47AB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83464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3"/>
                </a:solidFill>
                <a:latin typeface="맑은 고딕"/>
              </a:rPr>
              <a:t>화면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0040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70"/>
                </a:solidFill>
                <a:latin typeface="맑은 고딕"/>
              </a:rPr>
              <a:t>왼쪽 메뉴 · 상태 표시 · 새로고침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05072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47AB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97764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3"/>
                </a:solidFill>
                <a:latin typeface="맑은 고딕"/>
              </a:rPr>
              <a:t>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4340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70"/>
                </a:solidFill>
                <a:latin typeface="맑은 고딕"/>
              </a:rPr>
              <a:t>검색 · 목록 · 상세 · 단계 체크 · 작성/수정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834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48072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47AB"/>
                </a:solidFill>
                <a:latin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2064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3"/>
                </a:solidFill>
                <a:latin typeface="맑은 고딕"/>
              </a:rPr>
              <a:t>차량 재고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48640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70"/>
                </a:solidFill>
                <a:latin typeface="맑은 고딕"/>
              </a:rPr>
              <a:t>수량 조절 · 보충 필요 · 품목/차량 관리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5544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719072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47AB"/>
                </a:solidFill>
                <a:latin typeface="맑은 고딕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169164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3"/>
                </a:solidFill>
                <a:latin typeface="맑은 고딕"/>
              </a:rPr>
              <a:t>현장 리포트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05740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70"/>
                </a:solidFill>
                <a:latin typeface="맑은 고딕"/>
              </a:rPr>
              <a:t>새 리포트 · 이력 · 상태 변경 · 항목 설정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6974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862072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47AB"/>
                </a:solidFill>
                <a:latin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83464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3"/>
                </a:solidFill>
                <a:latin typeface="맑은 고딕"/>
              </a:rPr>
              <a:t>저장과 공유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20040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70"/>
                </a:solidFill>
                <a:latin typeface="맑은 고딕"/>
              </a:rPr>
              <a:t>자동 저장 원리 · 오프라인 · 올릴 내용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8404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005072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47AB"/>
                </a:solidFill>
                <a:latin typeface="맑은 고딕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97764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3"/>
                </a:solidFill>
                <a:latin typeface="맑은 고딕"/>
              </a:rPr>
              <a:t>설정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34340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70"/>
                </a:solidFill>
                <a:latin typeface="맑은 고딕"/>
              </a:rPr>
              <a:t>구글 시트 연결 · 연결 테스트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9834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148072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47AB"/>
                </a:solidFill>
                <a:latin typeface="맑은 고딕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12064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3"/>
                </a:solidFill>
                <a:latin typeface="맑은 고딕"/>
              </a:rPr>
              <a:t>문제 해결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48640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70"/>
                </a:solidFill>
                <a:latin typeface="맑은 고딕"/>
              </a:rPr>
              <a:t>자주 묻는 질문 · 지켜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9DB8EA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FE8FC"/>
                </a:solidFill>
                <a:latin typeface="맑은 고딕"/>
              </a:rPr>
              <a:t>이 앱이 하는 세 가지 일, 태블릿에 설치하는 방법, 처음 한 번 하는 설정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01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이 앱은 세 가지 일을 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로봇 유지보수 현장에서 태블릿 하나로 — 찾고, 세고, 기록합니다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4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3611880" cy="109728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2933"/>
                </a:solidFill>
                <a:latin typeface="맑은 고딕"/>
              </a:rPr>
              <a:t>가이드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70"/>
                </a:solidFill>
                <a:latin typeface="맑은 고딕"/>
              </a:rPr>
              <a:t>오류 코드 · 하드웨어 교체 SOP · SW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329184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코드나 증상으로 바로 검색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단계별 절차와 기준값(측정치)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단계를 탭하면 완료 체크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명령어는 탭 한 번으로 복사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사진은 팀 전체가 함께 봅니다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002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600200"/>
            <a:ext cx="3611880" cy="109728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8745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2933"/>
                </a:solidFill>
                <a:latin typeface="맑은 고딕"/>
              </a:rPr>
              <a:t>차량 재고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1343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70"/>
                </a:solidFill>
                <a:latin typeface="맑은 고딕"/>
              </a:rPr>
              <a:t>차량마다 부품 몇 개가 있는지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88920"/>
            <a:ext cx="329184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[−] [+] 로 수량을 바꾸면 즉시 기록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최소보유 이하는 빨갛게 '보충 필요'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부족한 것만 모아 보기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품목·차량 추가/수정/삭제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60020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600200"/>
            <a:ext cx="3611880" cy="109728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745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2933"/>
                </a:solidFill>
                <a:latin typeface="맑은 고딕"/>
              </a:rPr>
              <a:t>현장 리포트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1343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270"/>
                </a:solidFill>
                <a:latin typeface="맑은 고딕"/>
              </a:rPr>
              <a:t>방문한 식당에서 무엇을 했는지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788920"/>
            <a:ext cx="329184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항목을 채우고 저장 — 끝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사진·영상 첨부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이력에서 상태를 바꿔 진행 관리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팀 전체 기록이 월별로 쌓입니다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32120"/>
            <a:ext cx="11201400" cy="731520"/>
          </a:xfrm>
          <a:prstGeom prst="roundRect">
            <a:avLst>
              <a:gd name="adj" fmla="val 15000"/>
            </a:avLst>
          </a:prstGeom>
          <a:solidFill>
            <a:srgbClr val="DF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10789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002F73"/>
                </a:solidFill>
                <a:latin typeface="맑은 고딕"/>
              </a:rPr>
              <a:t>공통: 인터넷이 없어도 모든 화면이 열리고 저장됩니다. 저장한 내용은 팀 공용 구글 시트·드라이브에 자동으로 올라가고, 다른 사람이 바꾼 내용은 [새로고침]으로 받아옵니다. 따로 '업로드' 할 것은 없습니다.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01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태블릿에 설치하기 (APK)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안드로이드 태블릿 기준 · 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5 / 30</a:t>
            </a:r>
          </a:p>
        </p:txBody>
      </p:sp>
      <p:sp>
        <p:nvSpPr>
          <p:cNvPr id="9" name="Oval 8"/>
          <p:cNvSpPr/>
          <p:nvPr/>
        </p:nvSpPr>
        <p:spPr>
          <a:xfrm>
            <a:off x="667512" y="1627632"/>
            <a:ext cx="402336" cy="402336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5448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933"/>
                </a:solidFill>
                <a:latin typeface="맑은 고딕"/>
              </a:rPr>
              <a:t>APK 내려받기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83664"/>
            <a:ext cx="6583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270"/>
                </a:solidFill>
                <a:latin typeface="맑은 고딕"/>
              </a:rPr>
              <a:t>태블릿의 크롬에서 아래 주소를 열고 최신 파일(FieldPortal-v3.12.0-build23.apk)을 내려받습니다.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270"/>
                </a:solidFill>
                <a:latin typeface="맑은 고딕"/>
              </a:rPr>
              <a:t>github.com/jiminhwang94/bh-field-portal/releases/latest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" y="2560320"/>
            <a:ext cx="402336" cy="402336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933"/>
                </a:solidFill>
                <a:latin typeface="맑은 고딕"/>
              </a:rPr>
              <a:t>설치 허용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16352"/>
            <a:ext cx="6583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270"/>
                </a:solidFill>
                <a:latin typeface="맑은 고딕"/>
              </a:rPr>
              <a:t>내려받은 파일을 누르면 '출처를 알 수 없는 앱' 안내가 뜹니다. [설정] → 크롬(또는 파일 앱)에 '이 출처 허용'을 켜고 돌아옵니다.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" y="3493008"/>
            <a:ext cx="402336" cy="402336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19856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933"/>
                </a:solidFill>
                <a:latin typeface="맑은 고딕"/>
              </a:rPr>
              <a:t>설치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49040"/>
            <a:ext cx="6583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270"/>
                </a:solidFill>
                <a:latin typeface="맑은 고딕"/>
              </a:rPr>
              <a:t>[설치]를 누르면 홈 화면에 파란 육각형 아이콘이 생깁니다. 처음 열 때 화면이 그려지는 데 몇 초 걸립니다.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" y="4425696"/>
            <a:ext cx="402336" cy="402336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52544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933"/>
                </a:solidFill>
                <a:latin typeface="맑은 고딕"/>
              </a:rPr>
              <a:t>구글 시트 연결 (처음 한 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681728"/>
            <a:ext cx="6583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270"/>
                </a:solidFill>
                <a:latin typeface="맑은 고딕"/>
              </a:rPr>
              <a:t>왼쪽 메뉴 [설정] → 'Apps Script 웹 앱 URL'에 관리자가 알려 준 팀 공용 주소를 붙여 넣고 [연결 테스트] → 초록색 '연결됨'이 뜨면 [저장].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" y="5358384"/>
            <a:ext cx="402336" cy="402336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85232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933"/>
                </a:solidFill>
                <a:latin typeface="맑은 고딕"/>
              </a:rPr>
              <a:t>새 버전으로 올릴 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614416"/>
            <a:ext cx="6583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270"/>
                </a:solidFill>
                <a:latin typeface="맑은 고딕"/>
              </a:rPr>
              <a:t>같은 방법으로 새 APK를 설치하면 됩니다. 기기에 있던 가이드·재고·설정은 그대로 남습니다.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554480"/>
            <a:ext cx="3566160" cy="4663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828800"/>
            <a:ext cx="1463040" cy="1463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21040" y="33832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홈 화면 아이콘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703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270"/>
                </a:solidFill>
                <a:latin typeface="맑은 고딕"/>
              </a:rPr>
              <a:t>파란 바탕에 흰 육각형과 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97680"/>
            <a:ext cx="329184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00">
                <a:solidFill>
                  <a:srgbClr val="0047AB"/>
                </a:solidFill>
                <a:latin typeface="맑은 고딕"/>
              </a:rPr>
              <a:t>•  </a:t>
            </a:r>
            <a:r>
              <a:rPr sz="1100" b="1">
                <a:solidFill>
                  <a:srgbClr val="1F2933"/>
                </a:solidFill>
                <a:latin typeface="맑은 고딕"/>
              </a:rPr>
              <a:t>팀 공용 주소</a:t>
            </a:r>
            <a:r>
              <a:rPr sz="1100" b="0">
                <a:solidFill>
                  <a:srgbClr val="1F2933"/>
                </a:solidFill>
                <a:latin typeface="맑은 고딕"/>
              </a:rPr>
              <a:t>는 한 개입니다. 모든 태블릿이 같은 주소를 씁니다.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100">
                <a:solidFill>
                  <a:srgbClr val="0047AB"/>
                </a:solidFill>
                <a:latin typeface="맑은 고딕"/>
              </a:rPr>
              <a:t>•  </a:t>
            </a:r>
            <a:r>
              <a:rPr sz="1100" b="1">
                <a:solidFill>
                  <a:srgbClr val="1F2933"/>
                </a:solidFill>
                <a:latin typeface="맑은 고딕"/>
              </a:rPr>
              <a:t>구글 계정 로그인은 필요 없습니다.</a:t>
            </a:r>
            <a:r>
              <a:rPr sz="1100" b="0">
                <a:solidFill>
                  <a:srgbClr val="1F2933"/>
                </a:solidFill>
                <a:latin typeface="맑은 고딕"/>
              </a:rPr>
              <a:t> 앱에 계정·비밀번호를 넣지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9DB8EA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화면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FE8FC"/>
                </a:solidFill>
                <a:latin typeface="맑은 고딕"/>
              </a:rPr>
              <a:t>어느 화면에서나 같은 자리에 있는 것들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02 화면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왼쪽 메뉴와 위쪽 상태 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어느 화면에서나 같은 자리에 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7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17029" y="216522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617029" y="259956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617029" y="303390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17029" y="346824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617029" y="5603748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5496115" y="1629537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6726745" y="1629537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8" name="Oval 17"/>
          <p:cNvSpPr/>
          <p:nvPr/>
        </p:nvSpPr>
        <p:spPr>
          <a:xfrm>
            <a:off x="1080325" y="1640395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7744967" y="1545336"/>
            <a:ext cx="292608" cy="292608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15087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1517904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검색 · 자주 찾는 코드 · 이번 달 처리 현황 · 가이드 종류</a:t>
            </a:r>
          </a:p>
        </p:txBody>
      </p:sp>
      <p:sp>
        <p:nvSpPr>
          <p:cNvPr id="22" name="Oval 21"/>
          <p:cNvSpPr/>
          <p:nvPr/>
        </p:nvSpPr>
        <p:spPr>
          <a:xfrm>
            <a:off x="7744967" y="2130552"/>
            <a:ext cx="292608" cy="292608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209397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재고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10312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차량별 부품 수량</a:t>
            </a:r>
          </a:p>
        </p:txBody>
      </p:sp>
      <p:sp>
        <p:nvSpPr>
          <p:cNvPr id="25" name="Oval 24"/>
          <p:cNvSpPr/>
          <p:nvPr/>
        </p:nvSpPr>
        <p:spPr>
          <a:xfrm>
            <a:off x="7744967" y="2715768"/>
            <a:ext cx="292608" cy="292608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267919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새 리포트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2688336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현장 리포트 작성</a:t>
            </a:r>
          </a:p>
        </p:txBody>
      </p:sp>
      <p:sp>
        <p:nvSpPr>
          <p:cNvPr id="28" name="Oval 27"/>
          <p:cNvSpPr/>
          <p:nvPr/>
        </p:nvSpPr>
        <p:spPr>
          <a:xfrm>
            <a:off x="7744967" y="3300984"/>
            <a:ext cx="292608" cy="292608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326440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이력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3273552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팀 전체 리포트 기록 · 상태 변경</a:t>
            </a:r>
          </a:p>
        </p:txBody>
      </p:sp>
      <p:sp>
        <p:nvSpPr>
          <p:cNvPr id="31" name="Oval 30"/>
          <p:cNvSpPr/>
          <p:nvPr/>
        </p:nvSpPr>
        <p:spPr>
          <a:xfrm>
            <a:off x="7744967" y="3886200"/>
            <a:ext cx="292608" cy="292608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384962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19" y="3858768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구글 시트 연결 · 리포트 항목 설정</a:t>
            </a:r>
          </a:p>
        </p:txBody>
      </p:sp>
      <p:sp>
        <p:nvSpPr>
          <p:cNvPr id="34" name="Oval 33"/>
          <p:cNvSpPr/>
          <p:nvPr/>
        </p:nvSpPr>
        <p:spPr>
          <a:xfrm>
            <a:off x="7744967" y="4471416"/>
            <a:ext cx="292608" cy="292608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443484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상태 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4443984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시트와 같은 내용인지, 올릴 것이 남았는지. 누르면 [올릴 내용] 목록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7" y="5056632"/>
            <a:ext cx="292608" cy="292608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59" y="502005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새로고침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502920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다른 사람이 바꾼 내용을 지금 받아옵니다</a:t>
            </a:r>
          </a:p>
        </p:txBody>
      </p:sp>
      <p:sp>
        <p:nvSpPr>
          <p:cNvPr id="40" name="Oval 39"/>
          <p:cNvSpPr/>
          <p:nvPr/>
        </p:nvSpPr>
        <p:spPr>
          <a:xfrm>
            <a:off x="7744967" y="5641848"/>
            <a:ext cx="292608" cy="292608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59" y="560527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뒤로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19" y="5614416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홈이 아닌 화면에서 나타납니다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02 화면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홈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앱을 열면 보이는 첫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8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917448" y="2418588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917448" y="325107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917448" y="3938778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917448" y="477126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4464558" y="477126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508760"/>
            <a:ext cx="40690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검색 한 칸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오류 코드·부품명·증상·명령어를 한 칸에서 함께 찾습니다. 오프라인에서도 됩니다.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자주 찾는 코드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최근에 많이 본 오류 코드. 한 번 누르면 바로 검색.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이번 달 처리 현황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이달 리포트가 상태별로 몇 건인지 (조치 진행 중 · 교체 예정 · 모니터링 · 조치 완료).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최근 수정된 가이드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누가 고쳤든 최근 순서. 누르면 상세로.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가이드 종류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오류 코드 가이드 · 하드웨어 교체 SOP · SW &amp; 명령어. 누르면 그 종류의 목록으로.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9DB8EA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FE8FC"/>
                </a:solidFill>
                <a:latin typeface="맑은 고딕"/>
              </a:rPr>
              <a:t>현장에서 절차를 찾고, 따라 하고, 다음 사람을 위해 고쳐 두는 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03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홈의 검색 칸에 입력하고 [검색] 또는 엔터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10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679" y="1508760"/>
            <a:ext cx="406908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무엇으로 찾나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코드(E-101), 제목, 요약, 준비 공구, 단계 문장, 명령어까지 전부 뒤집니다.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일부만 쳐도 됩니다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'과전류', '패드', 'ssh' 처럼 단어 하나로.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결과 줄을 누르면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상세 화면으로 갑니다. 오른쪽에 단계 수가 보입니다.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다시 찾기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위 칸에 고쳐 쓰고 [재검색].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5257800"/>
            <a:ext cx="4069080" cy="960120"/>
          </a:xfrm>
          <a:prstGeom prst="roundRect">
            <a:avLst>
              <a:gd name="adj" fmla="val 8000"/>
            </a:avLst>
          </a:prstGeom>
          <a:solidFill>
            <a:srgbClr val="DF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39" y="5330952"/>
            <a:ext cx="37947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02F73"/>
                </a:solidFill>
                <a:latin typeface="맑은 고딕"/>
              </a:rPr>
              <a:t>검색은 기기 안의 가이드를 훑습니다. 그래서 인터넷이 끊긴 지하 매장에서도 바로 나옵니다.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03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가이드 목록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홈 → 가이드 종류 중 하나를 누르면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11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guid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679" y="1508760"/>
            <a:ext cx="40690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종류마다 목록이 따로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있습니다 — 오류 코드 가이드 · 하드웨어 교체 SOP · SW &amp; 명령어.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왼쪽 파란 글씨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가 코드(또는 제목). 아래 회색 줄은 단계 수 · 공구 수 · 마지막 수정일.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위 검색 칸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은 이 종류 안에서만 찾습니다.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[+ 가이드 작성]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이 종류의 새 가이드를 만듭니다.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03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가이드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무엇을 준비하고, 어떤 순서로, 어떤 값이 나와야 하는지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12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guid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917448" y="2943415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917448" y="3576828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6600063" y="2110930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821870" y="2110930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508760"/>
            <a:ext cx="40690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준비 공구 · 부품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출발 전에 확인.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단계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번호 순서대로. 파란 알약 '기준값'은 그 단계에서 나와야 하는 측정치입니다.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[리포트 작성]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이 가이드로 작업했다면 여기서 바로 리포트를 시작합니다.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[수정] [삭제]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내용이 틀렸거나 바뀌었으면 고칩니다. 삭제는 팀 전체에서 사라지니 신중히.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SW 가이드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에는 '명령어' 카드가 있습니다. [복사]를 누르면 클립보드에 담겨 터미널에 붙일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03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단계 완료 체크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작업하면서 한 단계씩 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13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-guide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679" y="1508760"/>
            <a:ext cx="40690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단계 줄을 탭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하면 파란색으로 바뀌고 체크가 됩니다. 다시 탭하면 풀립니다.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이 체크는 내 기기에만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남습니다. 다른 사람 화면과 시트에는 가지 않습니다 — 내 진행 표시용입니다.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[체크 초기화]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다음 현장에서 같은 가이드를 다시 쓸 때 한 번에 지웁니다.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앱을 닫아도 체크는 남습니다.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중간에 다른 화면을 봐도 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03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가이드 작성 ·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목록의 [+ 가이드 작성] 또는 상세의 [수정]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14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-guide-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679" y="1508760"/>
            <a:ext cx="406908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카테고리 · 오류 코드/제목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(필수) — 제목은 'E-101 로더 모터 과전류' 처럼 코드를 앞에.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요약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한 줄. 검색 결과와 목록에 보입니다.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준비 공구 · 부품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쉼표로 구분하면 상세에서 태그로 보입니다.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명령어 (SW용)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[+ 명령어 추가]. 이름 · 명령 · 설명.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단계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[+ 단계 추가]. 지시문 · 기준값 · 사진. 순서는 화살표로.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[저장]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하면 즉시 모든 기기에 공유됩니다.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5257800"/>
            <a:ext cx="4069080" cy="960120"/>
          </a:xfrm>
          <a:prstGeom prst="roundRect">
            <a:avLst>
              <a:gd name="adj" fmla="val 8000"/>
            </a:avLst>
          </a:prstGeom>
          <a:solidFill>
            <a:srgbClr val="DF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39" y="5330952"/>
            <a:ext cx="37947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02F73"/>
                </a:solidFill>
                <a:latin typeface="맑은 고딕"/>
              </a:rPr>
              <a:t>단계 사진은 제목을 넣고 저장하면 팀 드라이브의  가이드 → 분류 → 제목 → 사진  폴더에 올라가고, 다른 사람 태블릿에서도 보입니다. 인터넷이 없을 때 붙인 사진은 다음에 연결되어 저장할 때 올라갑니다.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9DB8EA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차량 재고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FE8FC"/>
                </a:solidFill>
                <a:latin typeface="맑은 고딕"/>
              </a:rPr>
              <a:t>차량마다 부품이 몇 개 있는지 — 세는 순간 시트에 적힙니다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04 차량 재고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재고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왼쪽 메뉴 [재고]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16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917448" y="1955292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862703" y="2653855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1605153" y="3142488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894260" y="209283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6375654" y="267195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6574726" y="209283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206555" y="209283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1508760"/>
            <a:ext cx="40690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047AB"/>
                </a:solidFill>
                <a:latin typeface="맑은 고딕"/>
              </a:rPr>
              <a:t>•  </a:t>
            </a:r>
            <a:r>
              <a:rPr sz="1200" b="1">
                <a:solidFill>
                  <a:srgbClr val="1F2933"/>
                </a:solidFill>
                <a:latin typeface="맑은 고딕"/>
              </a:rPr>
              <a:t>차량 탭</a:t>
            </a:r>
            <a:r>
              <a:rPr sz="1200" b="0">
                <a:solidFill>
                  <a:srgbClr val="1F2933"/>
                </a:solidFill>
                <a:latin typeface="맑은 고딕"/>
              </a:rPr>
              <a:t> — 차량을 고릅니다. [+ 차량]으로 추가. 품목은 모든 차량 공용이라 한 차량에서 추가하면 다른 차량에도 0개로 생깁니다.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047AB"/>
                </a:solidFill>
                <a:latin typeface="맑은 고딕"/>
              </a:rPr>
              <a:t>•  </a:t>
            </a:r>
            <a:r>
              <a:rPr sz="1200" b="1">
                <a:solidFill>
                  <a:srgbClr val="1F2933"/>
                </a:solidFill>
                <a:latin typeface="맑은 고딕"/>
              </a:rPr>
              <a:t>[−] [+]</a:t>
            </a:r>
            <a:r>
              <a:rPr sz="1200" b="0">
                <a:solidFill>
                  <a:srgbClr val="1F2933"/>
                </a:solidFill>
                <a:latin typeface="맑은 고딕"/>
              </a:rPr>
              <a:t> — 누르는 즉시 시트에 기록됩니다. 따로 저장할 것이 없습니다.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047AB"/>
                </a:solidFill>
                <a:latin typeface="맑은 고딕"/>
              </a:rPr>
              <a:t>•  </a:t>
            </a:r>
            <a:r>
              <a:rPr sz="1200" b="1">
                <a:solidFill>
                  <a:srgbClr val="1F2933"/>
                </a:solidFill>
                <a:latin typeface="맑은 고딕"/>
              </a:rPr>
              <a:t>보충 필요</a:t>
            </a:r>
            <a:r>
              <a:rPr sz="1200" b="0">
                <a:solidFill>
                  <a:srgbClr val="1F2933"/>
                </a:solidFill>
                <a:latin typeface="맑은 고딕"/>
              </a:rPr>
              <a:t> — 보유가 최소보유 이하이면 줄이 빨갛게 됩니다.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047AB"/>
                </a:solidFill>
                <a:latin typeface="맑은 고딕"/>
              </a:rPr>
              <a:t>•  </a:t>
            </a:r>
            <a:r>
              <a:rPr sz="1200" b="1">
                <a:solidFill>
                  <a:srgbClr val="1F2933"/>
                </a:solidFill>
                <a:latin typeface="맑은 고딕"/>
              </a:rPr>
              <a:t>[부족 항목만 · N]</a:t>
            </a:r>
            <a:r>
              <a:rPr sz="1200" b="0">
                <a:solidFill>
                  <a:srgbClr val="1F2933"/>
                </a:solidFill>
                <a:latin typeface="맑은 고딕"/>
              </a:rPr>
              <a:t> — 빨간 줄만 모아 봅니다. 출발 전 보충 목록으로 쓰세요.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047AB"/>
                </a:solidFill>
                <a:latin typeface="맑은 고딕"/>
              </a:rPr>
              <a:t>•  </a:t>
            </a:r>
            <a:r>
              <a:rPr sz="1200" b="1">
                <a:solidFill>
                  <a:srgbClr val="1F2933"/>
                </a:solidFill>
                <a:latin typeface="맑은 고딕"/>
              </a:rPr>
              <a:t>[수정]</a:t>
            </a:r>
            <a:r>
              <a:rPr sz="1200" b="0">
                <a:solidFill>
                  <a:srgbClr val="1F2933"/>
                </a:solidFill>
                <a:latin typeface="맑은 고딕"/>
              </a:rPr>
              <a:t> — 부품 이름 · 최소보유 변경.  </a:t>
            </a:r>
            <a:r>
              <a:rPr sz="1200" b="1">
                <a:solidFill>
                  <a:srgbClr val="1F2933"/>
                </a:solidFill>
                <a:latin typeface="맑은 고딕"/>
              </a:rPr>
              <a:t>[삭제]</a:t>
            </a:r>
            <a:r>
              <a:rPr sz="1200" b="0">
                <a:solidFill>
                  <a:srgbClr val="1F2933"/>
                </a:solidFill>
                <a:latin typeface="맑은 고딕"/>
              </a:rPr>
              <a:t> — 모든 차량에서 지워집니다.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047AB"/>
                </a:solidFill>
                <a:latin typeface="맑은 고딕"/>
              </a:rPr>
              <a:t>•  </a:t>
            </a:r>
            <a:r>
              <a:rPr sz="1200" b="1">
                <a:solidFill>
                  <a:srgbClr val="1F2933"/>
                </a:solidFill>
                <a:latin typeface="맑은 고딕"/>
              </a:rPr>
              <a:t>[+ 품목 추가]</a:t>
            </a:r>
            <a:r>
              <a:rPr sz="1200" b="0">
                <a:solidFill>
                  <a:srgbClr val="1F2933"/>
                </a:solidFill>
                <a:latin typeface="맑은 고딕"/>
              </a:rPr>
              <a:t> — 이름 · 수량 · 최소보유.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047AB"/>
                </a:solidFill>
                <a:latin typeface="맑은 고딕"/>
              </a:rPr>
              <a:t>•  </a:t>
            </a:r>
            <a:r>
              <a:rPr sz="1200" b="1">
                <a:solidFill>
                  <a:srgbClr val="1F2933"/>
                </a:solidFill>
                <a:latin typeface="맑은 고딕"/>
              </a:rPr>
              <a:t>[시트에서 받기]</a:t>
            </a:r>
            <a:r>
              <a:rPr sz="1200" b="0">
                <a:solidFill>
                  <a:srgbClr val="1F2933"/>
                </a:solidFill>
                <a:latin typeface="맑은 고딕"/>
              </a:rPr>
              <a:t> — 누군가 시트에서 직접 고쳤다면 지금 받아옵니다.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9DB8EA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현장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FE8FC"/>
                </a:solidFill>
                <a:latin typeface="맑은 고딕"/>
              </a:rPr>
              <a:t>방문한 식당에서 무엇을 했는지 — 팀 전체 기록으로 남깁니다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05 현장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새 리포트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왼쪽 메뉴 [새 리포트] 또는 가이드 상세의 [리포트 작성]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18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-report-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679" y="1508760"/>
            <a:ext cx="406908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* 표시는 필수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방문 식당명 · 로봇 시리얼 · 증상 요약 · 조치 내용 · 처리 결과.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입력 즉시 임시보관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쓰다가 다른 화면을 봐도, 앱을 닫아도 내용이 남습니다.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현장 사진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사진·영상을 여러 장 붙일 수 있습니다. 팀 드라이브에 올라가 이력에서 누구나 봅니다.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[저장]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구글 시트의 이달 탭(예: 2026-09)에 한 줄로 기록됩니다. 저장 뒤 이력에서 바로 확인.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[항목 설정]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입력 항목을 팀 전체 기준으로 바꾸는 곳 (관리자 권장).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5257800"/>
            <a:ext cx="4069080" cy="960120"/>
          </a:xfrm>
          <a:prstGeom prst="roundRect">
            <a:avLst>
              <a:gd name="adj" fmla="val 8000"/>
            </a:avLst>
          </a:prstGeom>
          <a:solidFill>
            <a:srgbClr val="DF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39" y="5330952"/>
            <a:ext cx="37947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02F73"/>
                </a:solidFill>
                <a:latin typeface="맑은 고딕"/>
              </a:rPr>
              <a:t>인터넷이 없어도 [저장]이 됩니다. 기기에 담아 두고 연결되면 자동으로 올라갑니다 — '올릴 내용' 항목을 참고하세요.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05 현장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리포트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왼쪽 메뉴 [이력] — 구글 시트의 팀 전체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19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556629" y="209283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917448" y="2389632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917448" y="2827591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455283" y="3432048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6534912" y="2708148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508760"/>
            <a:ext cx="40690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월 선택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(오른쪽 위) — 달마다 시트 탭 하나. 지난달 기록도 봅니다.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상태 타일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— 조치 완료 · 모니터링 · 조치 진행 중 · 교체 예정 건수.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검색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— 식당명이나 날짜(08-22)로.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상태 드롭다운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— 줄 오른쪽에서 바로 바꿉니다. 시트에 즉시 기록되고 다른 사람 화면에도 반영됩니다.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줄을 누르면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상세 — 항목 전체와 첨부 사진.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[시트에서 받기]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— 최신본을 지금 받아옵니다. 연결이 안 되면 마지막으로 받아 둔 내용을 보여 줍니다.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05 현장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리포트 항목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설정 → 리포트 항목 설정 (또는 새 리포트의 [항목 설정])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20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679" y="1508760"/>
            <a:ext cx="406908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팀 전체에 자동 적용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여기서 바꾸면 모든 태블릿의 새 리포트 화면이 같이 바뀝니다.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순서 = 시트 열 순서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화살표로 옮기면 시트에도 그 순서로 적힙니다.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항목 종류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한 줄 텍스트 · 여러 줄 텍스트 · 숫자 · 드롭다운(선택지) · 사진/영상.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기본 9개 항목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이 미리 들어 있습니다. 그대로 쓰는 것을 권장합니다.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5257800"/>
            <a:ext cx="4069080" cy="960120"/>
          </a:xfrm>
          <a:prstGeom prst="roundRect">
            <a:avLst>
              <a:gd name="adj" fmla="val 8000"/>
            </a:avLst>
          </a:prstGeom>
          <a:solidFill>
            <a:srgbClr val="DF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39" y="5330952"/>
            <a:ext cx="37947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02F73"/>
                </a:solidFill>
                <a:latin typeface="맑은 고딕"/>
              </a:rPr>
              <a:t>항목을 바꾸면 그 시점부터 시트의 이달 탭 아래에 새 항목 줄이 생기고, 그 아래로 새 기록이 쌓입니다. 예전 기록은 그대로 남습니다. 바꾸기 전에 팀에 먼저 알려 주세요.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9DB8EA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저장과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FE8FC"/>
                </a:solidFill>
                <a:latin typeface="맑은 고딕"/>
              </a:rPr>
              <a:t>따로 올릴 것은 없습니다 — 어떻게 돌아가는지만 알아 두세요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06 저장과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자동으로 올라가고, 새로고침으로 받아옵니다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저장 = 곧 팀 공용 구글 시트·드라이브에 기록 · 새로고침 = 다른 사람이 바꾼 것 받기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22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057400"/>
            <a:ext cx="1920240" cy="822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1호차 태블릿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재고 · 리포트 · 가이드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81160" y="2057400"/>
            <a:ext cx="1920240" cy="822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9260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2호차 태블릿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00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재고 · 리포트 · 가이드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749039" cy="2194560"/>
          </a:xfrm>
          <a:prstGeom prst="roundRect">
            <a:avLst>
              <a:gd name="adj" fmla="val 10000"/>
            </a:avLst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78308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팀 공용 구글 시트 · 드라이브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86000"/>
            <a:ext cx="33832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FE8FC"/>
                </a:solidFill>
                <a:latin typeface="맑은 고딕"/>
              </a:rPr>
              <a:t>차량재고 탭 · 월별 리포트 탭 (2026-09 …)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FE8FC"/>
                </a:solidFill>
                <a:latin typeface="맑은 고딕"/>
              </a:rPr>
              <a:t>가이드 3종 탭 · 리포트 항목 탭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FE8FC"/>
                </a:solidFill>
                <a:latin typeface="맑은 고딕"/>
              </a:rPr>
              <a:t>드라이브: 리포트 사진 · 가이드 사진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3154680" y="2423160"/>
            <a:ext cx="1005840" cy="548640"/>
          </a:xfrm>
          <a:prstGeom prst="leftRightArrow">
            <a:avLst/>
          </a:prstGeom>
          <a:solidFill>
            <a:srgbClr val="DF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-Right Arrow 20"/>
          <p:cNvSpPr/>
          <p:nvPr/>
        </p:nvSpPr>
        <p:spPr>
          <a:xfrm>
            <a:off x="8001000" y="2423160"/>
            <a:ext cx="1005840" cy="548640"/>
          </a:xfrm>
          <a:prstGeom prst="leftRightArrow">
            <a:avLst/>
          </a:prstGeom>
          <a:solidFill>
            <a:srgbClr val="DF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30175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5A6270"/>
                </a:solidFill>
                <a:latin typeface="맑은 고딕"/>
              </a:rPr>
              <a:t>저장 → 올림</a:t>
            </a:r>
          </a:p>
          <a:p>
            <a:pPr algn="ctr">
              <a:lnSpc>
                <a:spcPct val="115000"/>
              </a:lnSpc>
            </a:pPr>
            <a:r>
              <a:rPr sz="950" b="0">
                <a:solidFill>
                  <a:srgbClr val="5A6270"/>
                </a:solidFill>
                <a:latin typeface="맑은 고딕"/>
              </a:rPr>
              <a:t>새로고침 ← 받음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0175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5A6270"/>
                </a:solidFill>
                <a:latin typeface="맑은 고딕"/>
              </a:rPr>
              <a:t>저장 → 올림</a:t>
            </a:r>
          </a:p>
          <a:p>
            <a:pPr algn="ctr">
              <a:lnSpc>
                <a:spcPct val="115000"/>
              </a:lnSpc>
            </a:pPr>
            <a:r>
              <a:rPr sz="950" b="0">
                <a:solidFill>
                  <a:srgbClr val="5A6270"/>
                </a:solidFill>
                <a:latin typeface="맑은 고딕"/>
              </a:rPr>
              <a:t>새로고침 ← 받음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548640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047AB"/>
                </a:solidFill>
                <a:latin typeface="맑은 고딕"/>
              </a:rPr>
              <a:t>•  </a:t>
            </a:r>
            <a:r>
              <a:rPr sz="1200" b="1">
                <a:solidFill>
                  <a:srgbClr val="1F2933"/>
                </a:solidFill>
                <a:latin typeface="맑은 고딕"/>
              </a:rPr>
              <a:t>저장하면 바로 올라갑니다.</a:t>
            </a:r>
            <a:r>
              <a:rPr sz="1200" b="0">
                <a:solidFill>
                  <a:srgbClr val="1F2933"/>
                </a:solidFill>
                <a:latin typeface="맑은 고딕"/>
              </a:rPr>
              <a:t> 수량 [−][+], 리포트 [저장], 가이드 [저장], 상태 변경 — 전부 그 순간 시트에 기록됩니다.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047AB"/>
                </a:solidFill>
                <a:latin typeface="맑은 고딕"/>
              </a:rPr>
              <a:t>•  </a:t>
            </a:r>
            <a:r>
              <a:rPr sz="1200" b="1">
                <a:solidFill>
                  <a:srgbClr val="1F2933"/>
                </a:solidFill>
                <a:latin typeface="맑은 고딕"/>
              </a:rPr>
              <a:t>내가 안 건드린 것은 덮지 않습니다.</a:t>
            </a:r>
            <a:r>
              <a:rPr sz="1200" b="0">
                <a:solidFill>
                  <a:srgbClr val="1F2933"/>
                </a:solidFill>
                <a:latin typeface="맑은 고딕"/>
              </a:rPr>
              <a:t> 두 사람이 동시에 써도 서로의 변경만 얹히므로 내용이 섞이지 않습니다.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047AB"/>
                </a:solidFill>
                <a:latin typeface="맑은 고딕"/>
              </a:rPr>
              <a:t>•  </a:t>
            </a:r>
            <a:r>
              <a:rPr sz="1200" b="1">
                <a:solidFill>
                  <a:srgbClr val="1F2933"/>
                </a:solidFill>
                <a:latin typeface="맑은 고딕"/>
              </a:rPr>
              <a:t>[새로고침]</a:t>
            </a:r>
            <a:r>
              <a:rPr sz="1200" b="0">
                <a:solidFill>
                  <a:srgbClr val="1F2933"/>
                </a:solidFill>
                <a:latin typeface="맑은 고딕"/>
              </a:rPr>
              <a:t>은 받아오기입니다. 화면을 열 때와 5분마다 자동으로도 받아옵니다. 지금 당장 최신을 보고 싶을 때 누르세요.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1605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맑은 고딕"/>
              </a:rPr>
              <a:t>위쪽 상태 칩이 알려 주는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5720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D9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0F7A45"/>
                </a:solidFill>
                <a:latin typeface="맑은 고딕"/>
              </a:rPr>
              <a:t>● 시트와 같은 내용 · 09-04 09:20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553712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A6270"/>
                </a:solidFill>
                <a:latin typeface="맑은 고딕"/>
              </a:rPr>
              <a:t>올릴 것이 없습니다. 시각은 마지막으로 확인한 때.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5138928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D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B45309"/>
                </a:solidFill>
                <a:latin typeface="맑은 고딕"/>
              </a:rPr>
              <a:t>● 오프라인 · 올릴 것 1건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512064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A6270"/>
                </a:solidFill>
                <a:latin typeface="맑은 고딕"/>
              </a:rPr>
              <a:t>인터넷이 없어 기기에 담아 둔 상태. 연결되면 자동 전송.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5705856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B4231F"/>
                </a:solidFill>
                <a:latin typeface="맑은 고딕"/>
              </a:rPr>
              <a:t>● 올리지 못함 · 2건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687568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A6270"/>
                </a:solidFill>
                <a:latin typeface="맑은 고딕"/>
              </a:rPr>
              <a:t>연결은 되는데 시트가 받지 못함. 칩을 눌러 확인하고 [연결 테스트].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06 저장과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인터넷이 끊겼을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지하 매장·차량 이동 중에도 그대로 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23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-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971740" y="2027682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2010537" y="3377755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508760"/>
            <a:ext cx="40690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주황 띠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'오프라인 — 기기에 저장하며 계속 사용할 수 있습니다'가 위에 뜹니다.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모든 화면이 그대로 열립니다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가이드 검색, 재고 조절, 리포트 작성, 상태 변경 전부.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바꾼 것은 '반영 대기'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표시가 붙고 기기에 담깁니다.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인터넷이 돌아오면 자동으로 올라갑니다.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누를 것이 없습니다. 칩이 초록색 '시트와 같은 내용'으로 바뀌면 끝.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이력·재고는 마지막으로 받아 둔 내용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을 보여 줍니다. 다른 사람이 그 사이 바꾼 것은 연결 뒤 새로고침에 들어옵니다.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06 저장과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올릴 내용 — 확인하고 되돌리기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위쪽 상태 칩을 누르면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24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4-p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679" y="1508760"/>
            <a:ext cx="406908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아직 시트에 올라가지 않은 것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의 목록입니다. 무엇을 얼마나 바꿨는지 보입니다 (예: 재고 수량 0개 → 2개).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항목을 누르면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그 화면으로 가서 고칠 수 있습니다.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[되돌리기]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— 올리지 않고 바꾸기 전으로 돌립니다. 새로 만든 리포트·가이드·품목이면 지워집니다.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047AB"/>
                </a:solidFill>
                <a:latin typeface="맑은 고딕"/>
              </a:rPr>
              <a:t>•  </a:t>
            </a:r>
            <a:r>
              <a:rPr sz="1300" b="1">
                <a:solidFill>
                  <a:srgbClr val="1F2933"/>
                </a:solidFill>
                <a:latin typeface="맑은 고딕"/>
              </a:rPr>
              <a:t>그냥 두면</a:t>
            </a:r>
            <a:r>
              <a:rPr sz="1300" b="0">
                <a:solidFill>
                  <a:srgbClr val="1F2933"/>
                </a:solidFill>
                <a:latin typeface="맑은 고딕"/>
              </a:rPr>
              <a:t> 연결되는 대로 자동으로 올라갑니다. 보통은 열어 볼 일이 없습니다.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5257800"/>
            <a:ext cx="4069080" cy="960120"/>
          </a:xfrm>
          <a:prstGeom prst="roundRect">
            <a:avLst>
              <a:gd name="adj" fmla="val 8000"/>
            </a:avLst>
          </a:prstGeom>
          <a:solidFill>
            <a:srgbClr val="DF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39" y="5330952"/>
            <a:ext cx="37947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02F73"/>
                </a:solidFill>
                <a:latin typeface="맑은 고딕"/>
              </a:rPr>
              <a:t>'오프라인에서 실수로 눌렀는데 이미 저장됐다' — 이럴 때 여기서 되돌리면 시트에는 아무 흔적이 남지 않습니다.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9DB8EA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FE8FC"/>
                </a:solidFill>
                <a:latin typeface="맑은 고딕"/>
              </a:rPr>
              <a:t>처음 한 번, 그리고 연결이 이상할 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07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설정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왼쪽 메뉴 [설정]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26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87068"/>
            <a:ext cx="7004304" cy="4398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2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2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6949440" cy="43434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116520" y="2498217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1188910" y="3088195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957828" y="4916043"/>
            <a:ext cx="329184" cy="329184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508760"/>
            <a:ext cx="40690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연결됨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초록 표시가 정상. [스프레드시트 열기]로 시트를 브라우저에서 봅니다.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Apps Script 웹 앱 URL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— 팀 공용 주소. 관리자가 알려 준 것을 그대로 붙입니다. 바꾸지 마세요.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스프레드시트 ID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— 기록 위치 확인용. 보통 손댈 일 없음.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[연결 테스트]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— 지금 시트와 통신되는지 확인. 실패하면 인터넷과 주소를 확인.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[설치 방법]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— 시트 쪽 설치 안내 (관리자용).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기록 방식 · 리포트 항목 설정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은 아래에 접혀 있습니다.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047AB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1F2933"/>
                </a:solidFill>
                <a:latin typeface="맑은 고딕"/>
              </a:rPr>
              <a:t>맨 위 '앱 v3.12.0'</a:t>
            </a:r>
            <a:r>
              <a:rPr sz="1250" b="0">
                <a:solidFill>
                  <a:srgbClr val="1F2933"/>
                </a:solidFill>
                <a:latin typeface="맑은 고딕"/>
              </a:rPr>
              <a:t> — 문의할 때 이 숫자를 알려 주세요.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9DB8EA"/>
                </a:solidFill>
                <a:latin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문제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FE8FC"/>
                </a:solidFill>
                <a:latin typeface="맑은 고딕"/>
              </a:rPr>
              <a:t>자주 묻는 질문과 지켜 주면 좋은 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08 문제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자주 묻는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28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107899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3"/>
                </a:solidFill>
                <a:latin typeface="맑은 고딕"/>
              </a:rPr>
              <a:t>Q. 다른 사람이 바꿨다는데 내 화면엔 안 보여요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2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위쪽 [새로고침]을 누르세요. 화면을 열 때와 5분마다 자동으로도 받아옵니다.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24328"/>
            <a:ext cx="5486400" cy="107899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15768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3"/>
                </a:solidFill>
                <a:latin typeface="맑은 고딕"/>
              </a:rPr>
              <a:t>Q. 사진이 깨져(엑스 표시) 보여요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81528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사진은 드라이브에서 받아옵니다 — 인터넷을 확인하세요. 예전 버전에서 넣은 사진은 그 기기에만 있으니 가이드 [수정]에서 다시 붙이면 팀에 공유됩니다.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31336"/>
            <a:ext cx="5486400" cy="107899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22776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3"/>
                </a:solidFill>
                <a:latin typeface="맑은 고딕"/>
              </a:rPr>
              <a:t>Q. '올릴 것 N건'이 계속 남아 있어요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88536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칩을 눌러 무엇인지 확인 → 인터넷 확인 → 설정의 [연결 테스트]. 그래도 안 되면 관리자에게 앱 버전과 함께 알려 주세요.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38344"/>
            <a:ext cx="5486400" cy="107899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129784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3"/>
                </a:solidFill>
                <a:latin typeface="맑은 고딕"/>
              </a:rPr>
              <a:t>Q. 연결 테스트가 실패해요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95544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URL이 팀 공용 주소와 글자 하나까지 같은지 확인. 사내 와이파이가 아니어도 됩니다(LTE 가능).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417320"/>
            <a:ext cx="5486400" cy="107899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3"/>
                </a:solidFill>
                <a:latin typeface="맑은 고딕"/>
              </a:rPr>
              <a:t>Q. 화면이 하얗거나 이상하게 보여요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7452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앱을 완전히 닫고 다시 여세요. 계속되면 최신 APK를 다시 설치하세요 — 데이터는 남습니다.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624328"/>
            <a:ext cx="5486400" cy="107899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715768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3"/>
                </a:solidFill>
                <a:latin typeface="맑은 고딕"/>
              </a:rPr>
              <a:t>Q. 실수로 가이드/품목을 지웠어요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81528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앱에서 지운 것은 팀 전체에서 사라집니다. 관리자에게 알리면 시트 변경 기록에서 되살릴 수 있습니다.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31336"/>
            <a:ext cx="5486400" cy="107899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22776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3"/>
                </a:solidFill>
                <a:latin typeface="맑은 고딕"/>
              </a:rPr>
              <a:t>Q. 리포트를 저장했는데 이력에 없어요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88536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270"/>
                </a:solidFill>
                <a:latin typeface="맑은 고딕"/>
              </a:rPr>
              <a:t>월 선택이 이달인지 확인 → [시트에서 받기]. 오프라인이었다면 연결 뒤 자동으로 올라간 다음 보입니다.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47AB"/>
                </a:solidFill>
                <a:latin typeface="맑은 고딕"/>
              </a:rPr>
              <a:t>08 문제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686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맑은 고딕"/>
              </a:rPr>
              <a:t>지켜 주세요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70"/>
                </a:solidFill>
                <a:latin typeface="맑은 고딕"/>
              </a:rPr>
              <a:t>함께 쓰는 자료라서 — 다섯 가지만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비욘드허니컴 현장 포털 · 사용 설명서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270"/>
                </a:solidFill>
                <a:latin typeface="맑은 고딕"/>
              </a:rPr>
              <a:t>29 / 30</a:t>
            </a:r>
          </a:p>
        </p:txBody>
      </p:sp>
      <p:sp>
        <p:nvSpPr>
          <p:cNvPr id="9" name="Oval 8"/>
          <p:cNvSpPr/>
          <p:nvPr/>
        </p:nvSpPr>
        <p:spPr>
          <a:xfrm>
            <a:off x="667512" y="1627632"/>
            <a:ext cx="402336" cy="402336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544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933"/>
                </a:solidFill>
                <a:latin typeface="맑은 고딕"/>
              </a:rPr>
              <a:t>삭제는 한 번 더 생각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20240"/>
            <a:ext cx="10241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270"/>
                </a:solidFill>
                <a:latin typeface="맑은 고딕"/>
              </a:rPr>
              <a:t>가이드·품목·차량을 앱에서 지우면 모든 태블릿과 시트에서 함께 사라집니다. 대신 [수정]으로 고칠 수 있는지 먼저 보세요.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" y="2560320"/>
            <a:ext cx="402336" cy="402336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87168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933"/>
                </a:solidFill>
                <a:latin typeface="맑은 고딕"/>
              </a:rPr>
              <a:t>시트를 직접 고칠 땐 열을 옮기지 마세요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52928"/>
            <a:ext cx="10241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270"/>
                </a:solidFill>
                <a:latin typeface="맑은 고딕"/>
              </a:rPr>
              <a:t>PC에서 시트를 고치는 건 됩니다(가이드 여러 건 정리 등). 다만 열 순서를 바꾸거나 첫 줄(항목 줄)을 지우면 앱이 자료를 못 읽습니다.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" y="3493008"/>
            <a:ext cx="402336" cy="402336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19856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933"/>
                </a:solidFill>
                <a:latin typeface="맑은 고딕"/>
              </a:rPr>
              <a:t>리포트 항목 설정은 팀과 함께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85616"/>
            <a:ext cx="10241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270"/>
                </a:solidFill>
                <a:latin typeface="맑은 고딕"/>
              </a:rPr>
              <a:t>바꾸면 모든 태블릿에 즉시 적용되고 시트에 새 항목 줄이 생깁니다. 관리자가 정해서 바꾸는 것을 권장합니다.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" y="4425696"/>
            <a:ext cx="402336" cy="402336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52544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933"/>
                </a:solidFill>
                <a:latin typeface="맑은 고딕"/>
              </a:rPr>
              <a:t>리포트는 현장에서 바로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718304"/>
            <a:ext cx="10241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270"/>
                </a:solidFill>
                <a:latin typeface="맑은 고딕"/>
              </a:rPr>
              <a:t>인터넷이 없어도 저장됩니다. 나중에 모아 쓰면 사진과 시각이 어긋납니다.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" y="5358384"/>
            <a:ext cx="402336" cy="402336"/>
          </a:xfrm>
          <a:prstGeom prst="ellipse">
            <a:avLst/>
          </a:prstGeom>
          <a:solidFill>
            <a:srgbClr val="0047A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28523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933"/>
                </a:solidFill>
                <a:latin typeface="맑은 고딕"/>
              </a:rPr>
              <a:t>가이드는 다음 사람을 위해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650992"/>
            <a:ext cx="10241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270"/>
                </a:solidFill>
                <a:latin typeface="맑은 고딕"/>
              </a:rPr>
              <a:t>현장에서 다르게 해야 했다면 그 자리에서 [수정]. 기준값과 사진 한 장이 다음 방문을 30분 줄입니다.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문의 · 개선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DFE8FC"/>
                </a:solidFill>
                <a:latin typeface="맑은 고딕"/>
              </a:rPr>
              <a:t>앱이 이상하거나 이렇게 되면 좋겠다 싶은 것이 있으면 관리자에게 알려 주세요.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DFE8FC"/>
                </a:solidFill>
                <a:latin typeface="맑은 고딕"/>
              </a:rPr>
              <a:t>알려 줄 때: 어느 화면에서 · 무엇을 눌렀고 · 어떻게 됐는지 · 설정 화면 맨 위의 앱 버전(v3.12.0)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DFE8FC"/>
                </a:solidFill>
                <a:latin typeface="맑은 고딕"/>
              </a:rPr>
              <a:t>최신 APK: github.com/jiminhwang94/bh-field-portal/releases/latest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8EA"/>
                </a:solidFill>
                <a:latin typeface="맑은 고딕"/>
              </a:rPr>
              <a:t>비욘드허니컴 · 현장 포털 v3.12 · 2026-09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